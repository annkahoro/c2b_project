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35B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Segoe UI"/>
              </a:defRPr>
            </a:pPr>
            <a:r>
              <a:t>C2B PathFinder</a:t>
            </a:r>
          </a:p>
          <a:p>
            <a:pPr>
              <a:spcBef>
                <a:spcPts val="1400"/>
              </a:spcBef>
              <a:defRPr sz="2400">
                <a:solidFill>
                  <a:srgbClr val="00897B"/>
                </a:solidFill>
                <a:latin typeface="Segoe UI"/>
              </a:defRPr>
            </a:pPr>
            <a:r>
              <a:t>AI-Powered Learning Path Recommendation Platform</a:t>
            </a:r>
          </a:p>
          <a:p>
            <a:pPr>
              <a:spcBef>
                <a:spcPts val="2400"/>
              </a:spcBef>
              <a:defRPr sz="1400">
                <a:solidFill>
                  <a:srgbClr val="DCDCDC"/>
                </a:solidFill>
                <a:latin typeface="Segoe UI"/>
              </a:defRPr>
            </a:pPr>
            <a:r>
              <a:t>Bridging the gap between Campus and Business with explainable, data-driven skill mapping.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852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  <a:latin typeface="Segoe UI"/>
              </a:defRPr>
            </a:pPr>
            <a:r>
              <a:t>BGT 4th Edition | Pitch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897B"/>
                </a:solidFill>
                <a:latin typeface="Segoe UI"/>
              </a:defRPr>
            </a:pPr>
            <a:r>
              <a:t>C2B PATHFINDER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5E35B1"/>
                </a:solidFill>
                <a:latin typeface="Segoe UI"/>
              </a:defRPr>
            </a:pPr>
            <a:r>
              <a:t>Meet the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5E35B1"/>
                </a:solidFill>
                <a:latin typeface="Segoe UI"/>
              </a:defRPr>
            </a:pPr>
            <a:r>
              <a:t>Lead AI Engineer</a:t>
            </a:r>
          </a:p>
          <a:p>
            <a:pPr>
              <a:spcBef>
                <a:spcPts val="400"/>
              </a:spcBef>
              <a:spcAft>
                <a:spcPts val="2000"/>
              </a:spcAft>
              <a:defRPr sz="1300" b="1">
                <a:solidFill>
                  <a:srgbClr val="00897B"/>
                </a:solidFill>
                <a:latin typeface="Segoe UI"/>
              </a:defRPr>
            </a:pPr>
            <a:r>
              <a:t>Algorithms &amp; Recommendations</a:t>
            </a:r>
          </a:p>
          <a:p>
            <a:pPr>
              <a:lnSpc>
                <a:spcPct val="130000"/>
              </a:lnSpc>
              <a:defRPr sz="1300">
                <a:solidFill>
                  <a:srgbClr val="212121"/>
                </a:solidFill>
                <a:latin typeface="Segoe UI"/>
              </a:defRPr>
            </a:pPr>
            <a:r>
              <a:t>• Machine Learning &amp; NLP</a:t>
            </a:r>
            <a:br/>
            <a:r>
              <a:t>• Recommendation Architectures</a:t>
            </a:r>
            <a:br/>
            <a:r>
              <a:t>• Explainable AI Systems</a:t>
            </a:r>
            <a:br/>
            <a:r>
              <a:t>• Python &amp; PyTorch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10312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5E35B1"/>
                </a:solidFill>
                <a:latin typeface="Segoe UI"/>
              </a:defRPr>
            </a:pPr>
            <a:r>
              <a:t>Full-Stack Developer</a:t>
            </a:r>
          </a:p>
          <a:p>
            <a:pPr>
              <a:spcBef>
                <a:spcPts val="400"/>
              </a:spcBef>
              <a:spcAft>
                <a:spcPts val="2000"/>
              </a:spcAft>
              <a:defRPr sz="1300" b="1">
                <a:solidFill>
                  <a:srgbClr val="00897B"/>
                </a:solidFill>
                <a:latin typeface="Segoe UI"/>
              </a:defRPr>
            </a:pPr>
            <a:r>
              <a:t>Dashboard &amp; Platform Logic</a:t>
            </a:r>
          </a:p>
          <a:p>
            <a:pPr>
              <a:lnSpc>
                <a:spcPct val="130000"/>
              </a:lnSpc>
              <a:defRPr sz="1300">
                <a:solidFill>
                  <a:srgbClr val="212121"/>
                </a:solidFill>
                <a:latin typeface="Segoe UI"/>
              </a:defRPr>
            </a:pPr>
            <a:r>
              <a:t>• React, Node.js &amp; Vite</a:t>
            </a:r>
            <a:br/>
            <a:r>
              <a:t>• Tailwind CSS &amp; UI Aesthetics</a:t>
            </a:r>
            <a:br/>
            <a:r>
              <a:t>• API Integration</a:t>
            </a:r>
            <a:br/>
            <a:r>
              <a:t>• DB Management &amp; Seeders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10312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5E35B1"/>
                </a:solidFill>
                <a:latin typeface="Segoe UI"/>
              </a:defRPr>
            </a:pPr>
            <a:r>
              <a:t>Product &amp; UX Architect</a:t>
            </a:r>
          </a:p>
          <a:p>
            <a:pPr>
              <a:spcBef>
                <a:spcPts val="400"/>
              </a:spcBef>
              <a:spcAft>
                <a:spcPts val="2000"/>
              </a:spcAft>
              <a:defRPr sz="1300" b="1">
                <a:solidFill>
                  <a:srgbClr val="00897B"/>
                </a:solidFill>
                <a:latin typeface="Segoe UI"/>
              </a:defRPr>
            </a:pPr>
            <a:r>
              <a:t>Skills Diagnostic &amp; Insights</a:t>
            </a:r>
          </a:p>
          <a:p>
            <a:pPr>
              <a:lnSpc>
                <a:spcPct val="130000"/>
              </a:lnSpc>
              <a:defRPr sz="1300">
                <a:solidFill>
                  <a:srgbClr val="212121"/>
                </a:solidFill>
                <a:latin typeface="Segoe UI"/>
              </a:defRPr>
            </a:pPr>
            <a:r>
              <a:t>• Interactive Heatmaps design</a:t>
            </a:r>
            <a:br/>
            <a:r>
              <a:t>• Feedback Loop workflows</a:t>
            </a:r>
            <a:br/>
            <a:r>
              <a:t>• User journey modeling</a:t>
            </a:r>
            <a:br/>
            <a:r>
              <a:t>• Educational tech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897B"/>
                </a:solidFill>
                <a:latin typeface="Segoe UI"/>
              </a:defRPr>
            </a:pPr>
            <a:r>
              <a:t>C2B PATHFINDER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5E35B1"/>
                </a:solidFill>
                <a:latin typeface="Segoe UI"/>
              </a:defRPr>
            </a:pPr>
            <a:r>
              <a:t>The Skills Gap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666666"/>
                </a:solidFill>
                <a:latin typeface="Segoe UI"/>
              </a:defRPr>
            </a:pPr>
            <a:r>
              <a:t>THE PROBLEM</a:t>
            </a:r>
          </a:p>
          <a:p>
            <a:pPr>
              <a:spcBef>
                <a:spcPts val="800"/>
              </a:spcBef>
              <a:spcAft>
                <a:spcPts val="1600"/>
              </a:spcAft>
              <a:defRPr sz="2200" b="1">
                <a:solidFill>
                  <a:srgbClr val="5E35B1"/>
                </a:solidFill>
                <a:latin typeface="Segoe UI"/>
              </a:defRPr>
            </a:pPr>
            <a:r>
              <a:t>Inefficient Upskilling in Digital Transformation</a:t>
            </a:r>
          </a:p>
          <a:p>
            <a:pPr>
              <a:lnSpc>
                <a:spcPct val="130000"/>
              </a:lnSpc>
              <a:defRPr sz="1300">
                <a:solidFill>
                  <a:srgbClr val="212121"/>
                </a:solidFill>
                <a:latin typeface="Segoe UI"/>
              </a:defRPr>
            </a:pPr>
            <a:r>
              <a:t>• Manual skill gap assessments are static, costly, and quickly outdated.</a:t>
            </a:r>
            <a:br/>
            <a:r>
              <a:t>• Traditional training paths are generic and fail to align with unique learner goals.</a:t>
            </a:r>
            <a:br/>
            <a:r>
              <a:t>• Companies lack direct visibility into department-level capability gaps, leading to wasted training budgets.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45720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897B"/>
                </a:solidFill>
                <a:latin typeface="Segoe UI"/>
              </a:defRPr>
            </a:pPr>
            <a:r>
              <a:t>THE OPPORTUNITY</a:t>
            </a:r>
          </a:p>
          <a:p>
            <a:pPr>
              <a:spcBef>
                <a:spcPts val="800"/>
              </a:spcBef>
              <a:spcAft>
                <a:spcPts val="1600"/>
              </a:spcAft>
              <a:defRPr sz="2200" b="1">
                <a:solidFill>
                  <a:srgbClr val="00897B"/>
                </a:solidFill>
                <a:latin typeface="Segoe UI"/>
              </a:defRPr>
            </a:pPr>
            <a:r>
              <a:t>AI-Driven Real-Time Recommendation Pathways</a:t>
            </a:r>
          </a:p>
          <a:p>
            <a:pPr>
              <a:lnSpc>
                <a:spcPct val="130000"/>
              </a:lnSpc>
              <a:defRPr sz="1300">
                <a:solidFill>
                  <a:srgbClr val="212121"/>
                </a:solidFill>
                <a:latin typeface="Segoe UI"/>
              </a:defRPr>
            </a:pPr>
            <a:r>
              <a:t>• Leverage AI models to dynamically map historical learning paths and predict the next best steps.</a:t>
            </a:r>
            <a:br/>
            <a:r>
              <a:t>• Transform individual 'Learning Passports' into organizational heatmap diagnostics.</a:t>
            </a:r>
            <a:br/>
            <a:r>
              <a:t>• Close the loop using feedback engines to continuously optimize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897B"/>
                </a:solidFill>
                <a:latin typeface="Segoe UI"/>
              </a:defRPr>
            </a:pPr>
            <a:r>
              <a:t>C2B PATHFINDER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5E35B1"/>
                </a:solidFill>
                <a:latin typeface="Segoe UI"/>
              </a:defRPr>
            </a:pPr>
            <a:r>
              <a:t>The Solution: C2B PathFinder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897B"/>
                </a:solidFill>
                <a:latin typeface="Segoe UI"/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2000" b="1">
                <a:solidFill>
                  <a:srgbClr val="5E35B1"/>
                </a:solidFill>
                <a:latin typeface="Segoe UI"/>
              </a:defRPr>
            </a:pPr>
            <a:r>
              <a:t>Learning Passport</a:t>
            </a:r>
          </a:p>
          <a:p>
            <a:pPr>
              <a:spcAft>
                <a:spcPts val="1400"/>
              </a:spcAft>
              <a:defRPr sz="1100" b="1">
                <a:solidFill>
                  <a:srgbClr val="666666"/>
                </a:solidFill>
                <a:latin typeface="Segoe UI"/>
              </a:defRPr>
            </a:pPr>
            <a:r>
              <a:t>Learner Empowerment</a:t>
            </a:r>
          </a:p>
          <a:p>
            <a:pPr>
              <a:lnSpc>
                <a:spcPct val="130000"/>
              </a:lnSpc>
              <a:defRPr sz="1200">
                <a:solidFill>
                  <a:srgbClr val="212121"/>
                </a:solidFill>
                <a:latin typeface="Segoe UI"/>
              </a:defRPr>
            </a:pPr>
            <a:r>
              <a:t>A dynamic record tracking completed courses, active upskilling targets, and skill progress. Features a visual learning path showing the step-by-step transition from the learner's current role to their career target.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10312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897B"/>
                </a:solidFill>
                <a:latin typeface="Segoe UI"/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2000" b="1">
                <a:solidFill>
                  <a:srgbClr val="5E35B1"/>
                </a:solidFill>
                <a:latin typeface="Segoe UI"/>
              </a:defRPr>
            </a:pPr>
            <a:r>
              <a:t>Skills Diagnostic</a:t>
            </a:r>
          </a:p>
          <a:p>
            <a:pPr>
              <a:spcAft>
                <a:spcPts val="1400"/>
              </a:spcAft>
              <a:defRPr sz="1100" b="1">
                <a:solidFill>
                  <a:srgbClr val="666666"/>
                </a:solidFill>
                <a:latin typeface="Segoe UI"/>
              </a:defRPr>
            </a:pPr>
            <a:r>
              <a:t>Enterprise Heatmaps</a:t>
            </a:r>
          </a:p>
          <a:p>
            <a:pPr>
              <a:lnSpc>
                <a:spcPct val="130000"/>
              </a:lnSpc>
              <a:defRPr sz="1200">
                <a:solidFill>
                  <a:srgbClr val="212121"/>
                </a:solidFill>
                <a:latin typeface="Segoe UI"/>
              </a:defRPr>
            </a:pPr>
            <a:r>
              <a:t>Translates workforce diagnostics into a color-coded company heatmap. Instantly exposes critical skill gaps by department, automatically generating phased training roadmaps aligned with corporate budgets.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10312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897B"/>
                </a:solidFill>
                <a:latin typeface="Segoe UI"/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2000" b="1">
                <a:solidFill>
                  <a:srgbClr val="5E35B1"/>
                </a:solidFill>
                <a:latin typeface="Segoe UI"/>
              </a:defRPr>
            </a:pPr>
            <a:r>
              <a:t>Feedback Loop</a:t>
            </a:r>
          </a:p>
          <a:p>
            <a:pPr>
              <a:spcAft>
                <a:spcPts val="1400"/>
              </a:spcAft>
              <a:defRPr sz="1100" b="1">
                <a:solidFill>
                  <a:srgbClr val="666666"/>
                </a:solidFill>
                <a:latin typeface="Segoe UI"/>
              </a:defRPr>
            </a:pPr>
            <a:r>
              <a:t>Continuous Optimization</a:t>
            </a:r>
          </a:p>
          <a:p>
            <a:pPr>
              <a:lnSpc>
                <a:spcPct val="130000"/>
              </a:lnSpc>
              <a:defRPr sz="1200">
                <a:solidFill>
                  <a:srgbClr val="212121"/>
                </a:solidFill>
                <a:latin typeface="Segoe UI"/>
              </a:defRPr>
            </a:pPr>
            <a:r>
              <a:t>Collects post-training application rates and impact scores. This engine automatically optimizes the recommendation model, creating a closed-loop system where training relevance increases over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897B"/>
                </a:solidFill>
                <a:latin typeface="Segoe UI"/>
              </a:defRPr>
            </a:pPr>
            <a:r>
              <a:t>C2B PATHFINDER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5E35B1"/>
                </a:solidFill>
                <a:latin typeface="Segoe UI"/>
              </a:defRPr>
            </a:pPr>
            <a:r>
              <a:t>Market Fit &amp; Differentiation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666666"/>
                </a:solidFill>
                <a:latin typeface="Segoe UI"/>
              </a:defRPr>
            </a:pPr>
            <a:r>
              <a:t>CORE DIFFERENTIATORS</a:t>
            </a:r>
          </a:p>
          <a:p>
            <a:pPr>
              <a:spcBef>
                <a:spcPts val="800"/>
              </a:spcBef>
              <a:spcAft>
                <a:spcPts val="1600"/>
              </a:spcAft>
              <a:defRPr sz="2200" b="1">
                <a:solidFill>
                  <a:srgbClr val="5E35B1"/>
                </a:solidFill>
                <a:latin typeface="Segoe UI"/>
              </a:defRPr>
            </a:pPr>
            <a:r>
              <a:t>What Sets Us Apart</a:t>
            </a:r>
          </a:p>
          <a:p>
            <a:pPr>
              <a:lnSpc>
                <a:spcPct val="130000"/>
              </a:lnSpc>
              <a:defRPr sz="1300">
                <a:solidFill>
                  <a:srgbClr val="212121"/>
                </a:solidFill>
                <a:latin typeface="Segoe UI"/>
              </a:defRPr>
            </a:pPr>
            <a:r>
              <a:t>• Explainable AI (XAI): Instead of black-box recommendations, learners see explicit confidence metrics and reasons (e.g., 'recommended to fill 3 remaining skill gaps').</a:t>
            </a:r>
            <a:br/>
            <a:r>
              <a:t>• Dual-scale value: Directly solves problems for individual career growth while offering organizational planning tools.</a:t>
            </a:r>
            <a:br/>
            <a:r>
              <a:t>• Integrated feedback: Incorporates direct feedback into model refinement immediately.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45720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00897B"/>
                </a:solidFill>
                <a:latin typeface="Segoe UI"/>
              </a:defRPr>
            </a:pPr>
            <a:r>
              <a:t>MARKET ALIGNMENT</a:t>
            </a:r>
          </a:p>
          <a:p>
            <a:pPr>
              <a:spcBef>
                <a:spcPts val="800"/>
              </a:spcBef>
              <a:spcAft>
                <a:spcPts val="1600"/>
              </a:spcAft>
              <a:defRPr sz="2200" b="1">
                <a:solidFill>
                  <a:srgbClr val="00897B"/>
                </a:solidFill>
                <a:latin typeface="Segoe UI"/>
              </a:defRPr>
            </a:pPr>
            <a:r>
              <a:t>Proven Market Fit</a:t>
            </a:r>
          </a:p>
          <a:p>
            <a:pPr>
              <a:lnSpc>
                <a:spcPct val="130000"/>
              </a:lnSpc>
              <a:defRPr sz="1300">
                <a:solidFill>
                  <a:srgbClr val="212121"/>
                </a:solidFill>
                <a:latin typeface="Segoe UI"/>
              </a:defRPr>
            </a:pPr>
            <a:r>
              <a:t>• Highly relevant for corporate academies, professional upskilling schools, and enterprise L&amp;D departments.</a:t>
            </a:r>
            <a:br/>
            <a:r>
              <a:t>• Encourages active learning: Visualizing concrete, structured learning pathways boosts learner retention and courses completion by over 30%.</a:t>
            </a:r>
            <a:br/>
            <a:r>
              <a:t>• Seamless integration into HR ecosystems.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897B"/>
                </a:solidFill>
                <a:latin typeface="Segoe UI"/>
              </a:defRPr>
            </a:pPr>
            <a:r>
              <a:t>C2B PATHFINDER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5E35B1"/>
                </a:solidFill>
                <a:latin typeface="Segoe UI"/>
              </a:defRPr>
            </a:pPr>
            <a:r>
              <a:t>Sustainable Business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897B"/>
                </a:solidFill>
                <a:latin typeface="Segoe UI"/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2000" b="1">
                <a:solidFill>
                  <a:srgbClr val="5E35B1"/>
                </a:solidFill>
                <a:latin typeface="Segoe UI"/>
              </a:defRPr>
            </a:pPr>
            <a:r>
              <a:t>B2B SaaS Licensing</a:t>
            </a:r>
          </a:p>
          <a:p>
            <a:pPr>
              <a:spcAft>
                <a:spcPts val="1400"/>
              </a:spcAft>
              <a:defRPr sz="1100" b="1">
                <a:solidFill>
                  <a:srgbClr val="666666"/>
                </a:solidFill>
                <a:latin typeface="Segoe UI"/>
              </a:defRPr>
            </a:pPr>
            <a:r>
              <a:t>Recurring Corporate Revenue</a:t>
            </a:r>
          </a:p>
          <a:p>
            <a:pPr>
              <a:lnSpc>
                <a:spcPct val="130000"/>
              </a:lnSpc>
              <a:defRPr sz="1200">
                <a:solidFill>
                  <a:srgbClr val="212121"/>
                </a:solidFill>
                <a:latin typeface="Segoe UI"/>
              </a:defRPr>
            </a:pPr>
            <a:r>
              <a:t>Charged per employee/seat for enterprise and SME clients. Grants complete access to company dashboards, department heatmaps, automated roadmaps, and analytics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10312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897B"/>
                </a:solidFill>
                <a:latin typeface="Segoe UI"/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2000" b="1">
                <a:solidFill>
                  <a:srgbClr val="5E35B1"/>
                </a:solidFill>
                <a:latin typeface="Segoe UI"/>
              </a:defRPr>
            </a:pPr>
            <a:r>
              <a:t>Catalogue Commissions</a:t>
            </a:r>
          </a:p>
          <a:p>
            <a:pPr>
              <a:spcAft>
                <a:spcPts val="1400"/>
              </a:spcAft>
              <a:defRPr sz="1100" b="1">
                <a:solidFill>
                  <a:srgbClr val="666666"/>
                </a:solidFill>
                <a:latin typeface="Segoe UI"/>
              </a:defRPr>
            </a:pPr>
            <a:r>
              <a:t>Transaction-based Revenue</a:t>
            </a:r>
          </a:p>
          <a:p>
            <a:pPr>
              <a:lnSpc>
                <a:spcPct val="130000"/>
              </a:lnSpc>
              <a:defRPr sz="1200">
                <a:solidFill>
                  <a:srgbClr val="212121"/>
                </a:solidFill>
                <a:latin typeface="Segoe UI"/>
              </a:defRPr>
            </a:pPr>
            <a:r>
              <a:t>Revenue sharing and affiliate partnerships with course academies and training centers integrated in our catalogue. Earn commissions for every course booked through PathFinder.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10312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897B"/>
                </a:solidFill>
                <a:latin typeface="Segoe UI"/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2000" b="1">
                <a:solidFill>
                  <a:srgbClr val="5E35B1"/>
                </a:solidFill>
                <a:latin typeface="Segoe UI"/>
              </a:defRPr>
            </a:pPr>
            <a:r>
              <a:t>Enterprise Add-ons</a:t>
            </a:r>
          </a:p>
          <a:p>
            <a:pPr>
              <a:spcAft>
                <a:spcPts val="1400"/>
              </a:spcAft>
              <a:defRPr sz="1100" b="1">
                <a:solidFill>
                  <a:srgbClr val="666666"/>
                </a:solidFill>
                <a:latin typeface="Segoe UI"/>
              </a:defRPr>
            </a:pPr>
            <a:r>
              <a:t>Custom Development &amp; Data</a:t>
            </a:r>
          </a:p>
          <a:p>
            <a:pPr>
              <a:lnSpc>
                <a:spcPct val="130000"/>
              </a:lnSpc>
              <a:defRPr sz="1200">
                <a:solidFill>
                  <a:srgbClr val="212121"/>
                </a:solidFill>
                <a:latin typeface="Segoe UI"/>
              </a:defRPr>
            </a:pPr>
            <a:r>
              <a:t>Customized integration with internal learning management systems (LMS) and HR platforms. Provides private fine-tuning of the recommendation model on enterprise-specific schemas.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35B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Partner with C2B PathFinder</a:t>
            </a:r>
          </a:p>
          <a:p>
            <a:pPr>
              <a:spcBef>
                <a:spcPts val="800"/>
              </a:spcBef>
              <a:defRPr sz="1800">
                <a:solidFill>
                  <a:srgbClr val="00897B"/>
                </a:solidFill>
                <a:latin typeface="Segoe UI"/>
              </a:defRPr>
            </a:pPr>
            <a:r>
              <a:t>Let's change skills diagnostics from static surveys to a dynamic, AI-driven engine.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897B"/>
                </a:solidFill>
                <a:latin typeface="Segoe UI"/>
              </a:defRPr>
            </a:pPr>
            <a:r>
              <a:t>THE REQUEST: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Segoe UI"/>
              </a:defRPr>
            </a:pPr>
            <a:r>
              <a:t>• We are seeking pilot partners (training centers &amp; corporations) to deploy C2B PathFinder's recommendation engine with real user cohorts.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Segoe UI"/>
              </a:defRPr>
            </a:pPr>
            <a:r>
              <a:t>• Looking for strategic advice on scaling the catalog integration API to connect with major global LMS providers.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Segoe UI"/>
              </a:defRPr>
            </a:pPr>
            <a:r>
              <a:t>• Join us at: https://github.com/Annkahoro/C2B_PROJECT.git to inspect our code and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